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70" r:id="rId5"/>
    <p:sldId id="272" r:id="rId6"/>
    <p:sldId id="271" r:id="rId7"/>
    <p:sldId id="273" r:id="rId8"/>
    <p:sldId id="269" r:id="rId9"/>
    <p:sldId id="264" r:id="rId10"/>
    <p:sldId id="276" r:id="rId11"/>
    <p:sldId id="265" r:id="rId12"/>
    <p:sldId id="266" r:id="rId13"/>
    <p:sldId id="267" r:id="rId14"/>
    <p:sldId id="268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1D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8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0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587045-0A13-2EEC-632A-D2BEB6923F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4AB573-2A7C-6BF2-1DB0-B6A17D9397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08B61-C7DA-4933-8B98-31D7F894F635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AB5AC-B17F-FCF8-C092-EA8003CEDF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343EB-9DD7-E202-8AED-CCEDA392AC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798523-077C-4172-B9E2-33DF9A222C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9234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82067-5E37-4F45-8633-D17D60288D03}" type="datetimeFigureOut">
              <a:rPr lang="en-GB" smtClean="0"/>
              <a:t>07/09/2025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53AC2-EB9D-44DC-9EF6-BD30ECDEEA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713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903AA-07D2-D22C-A18D-BBB63873C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82B857-7BB8-4A6F-B3E5-766E52729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4A54F-B143-A50C-9FEF-33CA15791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D6838-3DF5-4489-A2E8-D90956C78126}" type="datetime1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74A24-0E1E-4493-9900-746AD02E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1527C-9B89-BE63-5292-00194BB5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80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283F-1599-D04A-321B-14519C8B0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45D6-0E1D-B64F-659D-F4ABB0FA0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64A0D-101F-0CED-258F-9F4C9E1E4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062-58FC-44B6-A22C-0E15F6EFB253}" type="datetime1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119C2-D757-7C96-1F8B-3F8787C6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FAE43-6796-228E-D2DF-58A403639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135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7E851-A8BC-101A-89B0-79909AFE1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D23D8-E21F-E7FE-F925-FDA52CF94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0B786-4CFC-A3FF-FC91-6C00DAF05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64079-8D64-42DC-BFCD-0608E9DD95CD}" type="datetime1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3C985-3FC4-B5A4-41D4-CE04C1856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77F00-3D77-8D74-1DB5-4CE4958E4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10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DDAF9-D7F0-B71B-F250-453B7DB88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75B03-5798-FB25-FB00-D8103229AC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B43A6-7583-65E3-1317-C62E32E59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4F8FE-8D40-8A47-3C30-FB87A4A4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31A18-EC44-41C1-A017-D85E09D46813}" type="datetime1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3EE8F-9C1C-C4B8-2CFF-6329E918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A7EBD-CD9B-5C5F-E359-73D70E2C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862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C603-8612-A1DC-E3A5-A71B54A7F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9B714-E339-6B33-D127-14F4E1F16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257F0-3558-86BC-B89D-53DA70872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102611-9126-F183-23B0-3768F1FC6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9DBAE-9138-59E6-B861-32CE14EA4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C6D4DD-EA5B-A943-E721-6960EBA0F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FC928-B608-4D00-83F5-B4814EB09096}" type="datetime1">
              <a:rPr lang="en-GB" smtClean="0"/>
              <a:t>07/09/2025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0385C0-AEEF-5568-B6C7-0B3056A57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6D4E45-48EB-3DE6-9B7E-EFA2A1AF1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69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D1705-AC0D-CC03-1F61-18BF8AF6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390A5-A681-6DA9-65E4-B29C4A728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5123F-EBDD-4911-A57C-A577ED343CA5}" type="datetime1">
              <a:rPr lang="en-GB" smtClean="0"/>
              <a:t>07/09/2025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C98449-D9D4-CD51-5EB5-6ADB43371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E77A2-5500-EABE-F11F-3BE2078C1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199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C396EA-7216-618A-B3D9-BC028C24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125E2-92E4-4A47-8504-5C8A43E5C55C}" type="datetime1">
              <a:rPr lang="en-GB" smtClean="0"/>
              <a:t>07/09/2025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B518A-C206-FB34-957B-F64E73AD3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6BC43-0A4B-78C1-5B58-85D9DF710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571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EDC8D-E489-A146-41DA-077297264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277F4-8EFF-0883-4BEE-89BCD398A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7BE7F-C94F-565F-CBE1-1BD5A8E33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2282D-A9A3-3332-0944-BCA143C13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6D35A-27B6-4DE1-AD6E-08C849D60298}" type="datetime1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5B9B5-1F05-A039-BA81-C65E61CB0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EF698-325E-5DCB-8587-BBBE9940C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92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017C1-956F-AF51-2B5F-4A87B6A79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11FE6-65BE-C056-2148-C38A03B6D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7156A-097F-65AC-0E80-8B12BCA32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658AF-5B24-E74A-1DA3-956A994F0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A7DF2-86BA-4355-B837-5C2A3680D8B1}" type="datetime1">
              <a:rPr lang="en-GB" smtClean="0"/>
              <a:t>07/09/2025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185A-8281-846D-D417-E915FE2FB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8DF82-F72A-49D8-88E7-52336F17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16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9150C-282F-0623-1D71-8D72855A2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65E85-7CEE-A8A4-2233-3DB4F98E8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C90DA-A41F-2492-00EE-50578E9F2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0BCC0-2A88-4E4D-8FC9-48C16AD77E04}" type="datetime1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F1066-9775-0207-A5F5-583ED99D4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E6B60-ABDE-AA79-7121-4F5445DC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58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146EE3-0650-A91E-CB5F-BD9FB46EA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3E7C6-1B76-875F-FE68-38A9FA140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68D0F-74EB-DFF0-9394-1085D95E3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4B05-5272-4649-8E33-29222006427A}" type="datetime1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0A190-839A-1F69-3733-36674AAD0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216F0-0E0B-8227-97C3-9B3DA27F2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147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72F292-A7D6-B9F2-9C43-76C55ADFD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E681A-F3F3-D0B5-8A4D-B95D2B8F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BB236-412E-656B-2D20-794CA3537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AA18A-463F-419C-9A63-EA0E0E66C05B}" type="datetime1">
              <a:rPr lang="en-GB" smtClean="0"/>
              <a:t>07/09/2025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45EE1-4F38-F4FD-04B1-ABEE4E7E1D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63697-CFCB-9DE1-191B-9879ACFD5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9A4AF9-4157-403D-807F-39247A8D63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648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35DF6-551C-435D-07FE-7A5CEA2B6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454" y="521999"/>
            <a:ext cx="10557164" cy="2387600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>
                <a:latin typeface="Arial Nova Light" panose="020B0304020202020204" pitchFamily="34" charset="0"/>
                <a:cs typeface="Arial" panose="020B0604020202020204" pitchFamily="34" charset="0"/>
              </a:rPr>
              <a:t>Quantum Resources in Two-Level Systems Coupled to Harmonic Oscillators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A7C874-6E16-AD79-2454-259B7C4C2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454" y="5172362"/>
            <a:ext cx="10557164" cy="572655"/>
          </a:xfrm>
        </p:spPr>
        <p:txBody>
          <a:bodyPr/>
          <a:lstStyle/>
          <a:p>
            <a:pPr algn="l"/>
            <a:r>
              <a:rPr lang="en-GB" b="1" dirty="0"/>
              <a:t>Rowan Adeya </a:t>
            </a:r>
          </a:p>
          <a:p>
            <a:pPr algn="l"/>
            <a:endParaRPr lang="en-GB" sz="1400" i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8E3EF5F-BFBB-5B87-57BF-EAFED17D4CB5}"/>
              </a:ext>
            </a:extLst>
          </p:cNvPr>
          <p:cNvSpPr txBox="1">
            <a:spLocks/>
          </p:cNvSpPr>
          <p:nvPr/>
        </p:nvSpPr>
        <p:spPr>
          <a:xfrm>
            <a:off x="877454" y="5745017"/>
            <a:ext cx="10557164" cy="572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dirty="0"/>
              <a:t>Supervisor: </a:t>
            </a:r>
            <a:r>
              <a:rPr lang="en-GB" sz="2000" i="1" dirty="0"/>
              <a:t>Prof. Alexandra Olaya-Castro</a:t>
            </a:r>
          </a:p>
          <a:p>
            <a:pPr algn="l"/>
            <a:endParaRPr lang="en-GB" sz="1400" i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96878-BEBA-05A8-3264-092B4F3D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624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161E3-D265-FE81-C6D7-D8A58D5ED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4036"/>
            <a:ext cx="12192000" cy="734001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Two-Level Systems Coupled to Harmonic Oscillators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140ED6-321B-015B-A821-B6C1B258E0C7}"/>
              </a:ext>
            </a:extLst>
          </p:cNvPr>
          <p:cNvSpPr/>
          <p:nvPr/>
        </p:nvSpPr>
        <p:spPr>
          <a:xfrm>
            <a:off x="0" y="1048037"/>
            <a:ext cx="12192000" cy="972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1CCD7E-B1C4-5653-812A-81C4268A1272}"/>
              </a:ext>
            </a:extLst>
          </p:cNvPr>
          <p:cNvSpPr txBox="1"/>
          <p:nvPr/>
        </p:nvSpPr>
        <p:spPr>
          <a:xfrm>
            <a:off x="3870037" y="1329975"/>
            <a:ext cx="832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Any system with two possible states: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A8E9B-E5FD-B8FC-7CCE-62C1E4340E9A}"/>
              </a:ext>
            </a:extLst>
          </p:cNvPr>
          <p:cNvSpPr txBox="1"/>
          <p:nvPr/>
        </p:nvSpPr>
        <p:spPr>
          <a:xfrm>
            <a:off x="3870036" y="2815943"/>
            <a:ext cx="832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system with spaced energy levels and a quantised energy spectrum:</a:t>
            </a:r>
          </a:p>
        </p:txBody>
      </p:sp>
      <p:pic>
        <p:nvPicPr>
          <p:cNvPr id="10" name="Picture 9" descr="A diagram of a graph&#10;&#10;AI-generated content may be incorrect.">
            <a:extLst>
              <a:ext uri="{FF2B5EF4-FFF2-40B4-BE49-F238E27FC236}">
                <a16:creationId xmlns:a16="http://schemas.microsoft.com/office/drawing/2014/main" id="{F83658DC-0B79-A212-89E8-13E5A74F0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33" y="3942834"/>
            <a:ext cx="7239492" cy="2888783"/>
          </a:xfrm>
          <a:prstGeom prst="rect">
            <a:avLst/>
          </a:prstGeom>
        </p:spPr>
      </p:pic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81540936-233C-A14F-9B64-22AE7A50A24F}"/>
              </a:ext>
            </a:extLst>
          </p:cNvPr>
          <p:cNvSpPr/>
          <p:nvPr/>
        </p:nvSpPr>
        <p:spPr>
          <a:xfrm>
            <a:off x="789710" y="1413098"/>
            <a:ext cx="2198254" cy="859104"/>
          </a:xfrm>
          <a:prstGeom prst="homePlat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TLS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C36E91C9-074F-EDBE-066F-40B40FB020FC}"/>
              </a:ext>
            </a:extLst>
          </p:cNvPr>
          <p:cNvSpPr/>
          <p:nvPr/>
        </p:nvSpPr>
        <p:spPr>
          <a:xfrm>
            <a:off x="789710" y="2834415"/>
            <a:ext cx="2198254" cy="859104"/>
          </a:xfrm>
          <a:prstGeom prst="homePlate">
            <a:avLst/>
          </a:prstGeom>
          <a:solidFill>
            <a:srgbClr val="381D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QHO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5290D8-20F9-30C7-CEAA-E9A61017059E}"/>
              </a:ext>
            </a:extLst>
          </p:cNvPr>
          <p:cNvSpPr/>
          <p:nvPr/>
        </p:nvSpPr>
        <p:spPr>
          <a:xfrm>
            <a:off x="3211259" y="5124049"/>
            <a:ext cx="1089891" cy="701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CE9D7C-8B1E-831E-77BA-7B49D3C75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290" y="1812465"/>
            <a:ext cx="3084945" cy="523794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BF9153ED-8A50-4EB0-9236-0BB13E469DD7}"/>
              </a:ext>
            </a:extLst>
          </p:cNvPr>
          <p:cNvSpPr/>
          <p:nvPr/>
        </p:nvSpPr>
        <p:spPr>
          <a:xfrm>
            <a:off x="337127" y="1413098"/>
            <a:ext cx="346363" cy="3090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EE6A541-0C4E-2D72-ACF7-83229E3C73B2}"/>
              </a:ext>
            </a:extLst>
          </p:cNvPr>
          <p:cNvSpPr/>
          <p:nvPr/>
        </p:nvSpPr>
        <p:spPr>
          <a:xfrm>
            <a:off x="337127" y="2815943"/>
            <a:ext cx="346363" cy="3090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02FEDE-64AA-9A04-FC54-1BC6E60E43E9}"/>
              </a:ext>
            </a:extLst>
          </p:cNvPr>
          <p:cNvSpPr/>
          <p:nvPr/>
        </p:nvSpPr>
        <p:spPr>
          <a:xfrm>
            <a:off x="4127969" y="4511360"/>
            <a:ext cx="346363" cy="3090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653972E-BD6D-258F-D773-3403DA707625}"/>
              </a:ext>
            </a:extLst>
          </p:cNvPr>
          <p:cNvSpPr/>
          <p:nvPr/>
        </p:nvSpPr>
        <p:spPr>
          <a:xfrm>
            <a:off x="1034472" y="4511360"/>
            <a:ext cx="346363" cy="3090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3BE72F1-795F-6DFD-12EB-8C7BCA3012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750" y="3218122"/>
            <a:ext cx="2681350" cy="95703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8106047-3F72-607A-B792-A1E7BA0078A4}"/>
              </a:ext>
            </a:extLst>
          </p:cNvPr>
          <p:cNvSpPr/>
          <p:nvPr/>
        </p:nvSpPr>
        <p:spPr>
          <a:xfrm>
            <a:off x="4693920" y="4272071"/>
            <a:ext cx="1722120" cy="3048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30" name="Picture 29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350BE978-DC32-7D31-7F1B-191DAE07C5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762" y="5089734"/>
            <a:ext cx="4322665" cy="59498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0A65BC-9474-C5AF-5DC7-A222F1DC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16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4" grpId="0" animBg="1"/>
      <p:bldP spid="15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25C4A-E49B-6D4D-C0B2-B36B9126A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279FB-BC32-9AC9-C964-DAC7425D5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4036"/>
            <a:ext cx="12192000" cy="734001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Quantum Resources: Entanglement and Coherence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AB39CC-966F-B691-9132-8988EDB5F315}"/>
              </a:ext>
            </a:extLst>
          </p:cNvPr>
          <p:cNvSpPr/>
          <p:nvPr/>
        </p:nvSpPr>
        <p:spPr>
          <a:xfrm>
            <a:off x="0" y="1048037"/>
            <a:ext cx="12192000" cy="972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69E340-A6A5-71B8-AF4E-CBA3E4832E48}"/>
              </a:ext>
            </a:extLst>
          </p:cNvPr>
          <p:cNvSpPr txBox="1"/>
          <p:nvPr/>
        </p:nvSpPr>
        <p:spPr>
          <a:xfrm>
            <a:off x="3870035" y="4253239"/>
            <a:ext cx="832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Off-diagonal elements of the density matrix: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DA103231-B5B6-A88F-3726-FC544A6D0994}"/>
              </a:ext>
            </a:extLst>
          </p:cNvPr>
          <p:cNvSpPr/>
          <p:nvPr/>
        </p:nvSpPr>
        <p:spPr>
          <a:xfrm>
            <a:off x="789709" y="1976519"/>
            <a:ext cx="2498435" cy="859104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Entanglement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8BE44FFF-A4BF-DD68-B814-DCF4DE90F307}"/>
              </a:ext>
            </a:extLst>
          </p:cNvPr>
          <p:cNvSpPr/>
          <p:nvPr/>
        </p:nvSpPr>
        <p:spPr>
          <a:xfrm>
            <a:off x="789709" y="4338854"/>
            <a:ext cx="2498434" cy="859104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Coherence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19DAB0-2AE7-59B7-F5C5-B1A9BEE5B044}"/>
              </a:ext>
            </a:extLst>
          </p:cNvPr>
          <p:cNvSpPr/>
          <p:nvPr/>
        </p:nvSpPr>
        <p:spPr>
          <a:xfrm>
            <a:off x="5523345" y="4904509"/>
            <a:ext cx="1089891" cy="701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black and white symbol&#10;&#10;AI-generated content may be incorrect.">
            <a:extLst>
              <a:ext uri="{FF2B5EF4-FFF2-40B4-BE49-F238E27FC236}">
                <a16:creationId xmlns:a16="http://schemas.microsoft.com/office/drawing/2014/main" id="{34FE8A0C-AA96-3DC1-5585-DA0ED3D22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448" y="2310979"/>
            <a:ext cx="4762057" cy="10545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BF35A9-499B-0292-EC5B-8BA1D9BC6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15"/>
          <a:stretch>
            <a:fillRect/>
          </a:stretch>
        </p:blipFill>
        <p:spPr>
          <a:xfrm>
            <a:off x="5470005" y="4689597"/>
            <a:ext cx="3715327" cy="16525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7E07C3-5493-3889-BFA0-D3E3A44790D6}"/>
              </a:ext>
            </a:extLst>
          </p:cNvPr>
          <p:cNvSpPr txBox="1"/>
          <p:nvPr/>
        </p:nvSpPr>
        <p:spPr>
          <a:xfrm>
            <a:off x="3870036" y="1874621"/>
            <a:ext cx="832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Separability of a coupled system: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EECCEF-8139-EA86-4873-3A6764FF4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8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 animBg="1"/>
      <p:bldP spid="15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4128E-C777-9679-6C4F-DF23D2A57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21368-D33A-99ED-EF2B-596B961CC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4036"/>
            <a:ext cx="12192000" cy="734001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The Research Question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4D7E2A-4A12-25EC-C8C9-390A659AD063}"/>
              </a:ext>
            </a:extLst>
          </p:cNvPr>
          <p:cNvSpPr/>
          <p:nvPr/>
        </p:nvSpPr>
        <p:spPr>
          <a:xfrm>
            <a:off x="0" y="1048037"/>
            <a:ext cx="12192000" cy="972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F7183D-0A85-9F60-2108-CD09578B0520}"/>
              </a:ext>
            </a:extLst>
          </p:cNvPr>
          <p:cNvSpPr txBox="1"/>
          <p:nvPr/>
        </p:nvSpPr>
        <p:spPr>
          <a:xfrm>
            <a:off x="773430" y="2890391"/>
            <a:ext cx="10645140" cy="107721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How do entanglement and coherence manifest in TLS-QHO systems?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8EF2F-2398-D2E3-31C7-E8248A79A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22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EF545-B66A-4CAB-D7A4-B2D0FB76B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CA0A-4D18-BA3A-1A31-9F45D247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4036"/>
            <a:ext cx="12192000" cy="734001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Methodology: Our Models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82D2AA-0CA8-BD42-283F-AD8B4EC19B55}"/>
              </a:ext>
            </a:extLst>
          </p:cNvPr>
          <p:cNvSpPr/>
          <p:nvPr/>
        </p:nvSpPr>
        <p:spPr>
          <a:xfrm>
            <a:off x="0" y="1048037"/>
            <a:ext cx="12192000" cy="972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05C2E5-6BE1-13AF-0554-9BA8EB2A432E}"/>
              </a:ext>
            </a:extLst>
          </p:cNvPr>
          <p:cNvSpPr txBox="1"/>
          <p:nvPr/>
        </p:nvSpPr>
        <p:spPr>
          <a:xfrm>
            <a:off x="2981763" y="1325174"/>
            <a:ext cx="6593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Single TLS coupled to one mode of a QHO. Simple, well-known dynamics. 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FCC46D-AA32-47C4-D4CF-CCBE9715A823}"/>
              </a:ext>
            </a:extLst>
          </p:cNvPr>
          <p:cNvSpPr txBox="1"/>
          <p:nvPr/>
        </p:nvSpPr>
        <p:spPr>
          <a:xfrm>
            <a:off x="2981763" y="3762192"/>
            <a:ext cx="8321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Single effective TLS (dimer) , coupled to the molecular vibrations’ collective mode. More complex, intricate dynamics. 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01197A33-7947-65C1-309E-20A23FE14717}"/>
              </a:ext>
            </a:extLst>
          </p:cNvPr>
          <p:cNvSpPr/>
          <p:nvPr/>
        </p:nvSpPr>
        <p:spPr>
          <a:xfrm>
            <a:off x="426660" y="1422446"/>
            <a:ext cx="2198254" cy="859104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JCM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C7BF4BB5-0AD5-270E-006B-734911A1C0A5}"/>
              </a:ext>
            </a:extLst>
          </p:cNvPr>
          <p:cNvSpPr/>
          <p:nvPr/>
        </p:nvSpPr>
        <p:spPr>
          <a:xfrm>
            <a:off x="334383" y="3877208"/>
            <a:ext cx="2198254" cy="859104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EVM</a:t>
            </a:r>
          </a:p>
        </p:txBody>
      </p:sp>
      <p:pic>
        <p:nvPicPr>
          <p:cNvPr id="9" name="Picture 8" descr="A close-up of a text&#10;&#10;AI-generated content may be incorrect.">
            <a:extLst>
              <a:ext uri="{FF2B5EF4-FFF2-40B4-BE49-F238E27FC236}">
                <a16:creationId xmlns:a16="http://schemas.microsoft.com/office/drawing/2014/main" id="{DE0E1E8A-784D-1F8D-49A8-1A7E4A3D3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306" y="4738898"/>
            <a:ext cx="5608495" cy="804718"/>
          </a:xfrm>
          <a:prstGeom prst="rect">
            <a:avLst/>
          </a:prstGeom>
        </p:spPr>
      </p:pic>
      <p:pic>
        <p:nvPicPr>
          <p:cNvPr id="12" name="Picture 11" descr="A black and white image of a smiley face&#10;&#10;AI-generated content may be incorrect.">
            <a:extLst>
              <a:ext uri="{FF2B5EF4-FFF2-40B4-BE49-F238E27FC236}">
                <a16:creationId xmlns:a16="http://schemas.microsoft.com/office/drawing/2014/main" id="{A0BFA533-A81F-CB86-C920-5F4481829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109" y="2261450"/>
            <a:ext cx="5318975" cy="78982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146683F-4052-910C-D7FF-2C6B51C95576}"/>
              </a:ext>
            </a:extLst>
          </p:cNvPr>
          <p:cNvSpPr/>
          <p:nvPr/>
        </p:nvSpPr>
        <p:spPr>
          <a:xfrm>
            <a:off x="4337190" y="2275458"/>
            <a:ext cx="779172" cy="7700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43FE98-70A7-9544-1F8D-EA8A521AC0BA}"/>
              </a:ext>
            </a:extLst>
          </p:cNvPr>
          <p:cNvSpPr/>
          <p:nvPr/>
        </p:nvSpPr>
        <p:spPr>
          <a:xfrm>
            <a:off x="5360049" y="2271326"/>
            <a:ext cx="1644908" cy="770075"/>
          </a:xfrm>
          <a:prstGeom prst="rect">
            <a:avLst/>
          </a:prstGeom>
          <a:noFill/>
          <a:ln>
            <a:solidFill>
              <a:srgbClr val="381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059C96-7A92-D0E0-DB84-70D88DC208FE}"/>
              </a:ext>
            </a:extLst>
          </p:cNvPr>
          <p:cNvSpPr/>
          <p:nvPr/>
        </p:nvSpPr>
        <p:spPr>
          <a:xfrm>
            <a:off x="4237883" y="4758491"/>
            <a:ext cx="1424618" cy="7700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7DFD12-22D7-D972-2F57-C665ADDA6C4C}"/>
              </a:ext>
            </a:extLst>
          </p:cNvPr>
          <p:cNvSpPr/>
          <p:nvPr/>
        </p:nvSpPr>
        <p:spPr>
          <a:xfrm>
            <a:off x="5904164" y="4762750"/>
            <a:ext cx="1012371" cy="770075"/>
          </a:xfrm>
          <a:prstGeom prst="rect">
            <a:avLst/>
          </a:prstGeom>
          <a:noFill/>
          <a:ln>
            <a:solidFill>
              <a:srgbClr val="381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823234-C370-4AF5-430D-2E768C28770B}"/>
              </a:ext>
            </a:extLst>
          </p:cNvPr>
          <p:cNvSpPr/>
          <p:nvPr/>
        </p:nvSpPr>
        <p:spPr>
          <a:xfrm>
            <a:off x="7252315" y="2281200"/>
            <a:ext cx="1644908" cy="770075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05CAE4-CE0A-4454-8E2C-214678345FB2}"/>
              </a:ext>
            </a:extLst>
          </p:cNvPr>
          <p:cNvSpPr/>
          <p:nvPr/>
        </p:nvSpPr>
        <p:spPr>
          <a:xfrm>
            <a:off x="7168621" y="4767010"/>
            <a:ext cx="1846180" cy="770075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" name="Picture 30" descr="A diagram of a physics experiment&#10;&#10;AI-generated content may be incorrect.">
            <a:extLst>
              <a:ext uri="{FF2B5EF4-FFF2-40B4-BE49-F238E27FC236}">
                <a16:creationId xmlns:a16="http://schemas.microsoft.com/office/drawing/2014/main" id="{B8314AAC-A036-52B2-F85C-B0E1818D1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377" y="1402030"/>
            <a:ext cx="1786193" cy="236016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3" name="Picture 32" descr="A close-up of a dna molecule&#10;&#10;AI-generated content may be incorrect.">
            <a:extLst>
              <a:ext uri="{FF2B5EF4-FFF2-40B4-BE49-F238E27FC236}">
                <a16:creationId xmlns:a16="http://schemas.microsoft.com/office/drawing/2014/main" id="{0DA5CDD6-2B78-0423-E9AE-39DD6D7CDB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344" y="4446946"/>
            <a:ext cx="2403237" cy="180242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50CDA3-36CC-9D8F-E7F0-5B5AD4A41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82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4" grpId="0" animBg="1"/>
      <p:bldP spid="15" grpId="0" animBg="1"/>
      <p:bldP spid="13" grpId="0" animBg="1"/>
      <p:bldP spid="17" grpId="0" animBg="1"/>
      <p:bldP spid="18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F4E89-444F-882C-620C-5E1B15841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E4B6E-CA04-2F80-8D50-3303968A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4036"/>
            <a:ext cx="12192000" cy="734001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Methodology: State Evolution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443AA2-90DA-CBBD-470E-3523E39F7D5A}"/>
              </a:ext>
            </a:extLst>
          </p:cNvPr>
          <p:cNvSpPr/>
          <p:nvPr/>
        </p:nvSpPr>
        <p:spPr>
          <a:xfrm>
            <a:off x="0" y="1048037"/>
            <a:ext cx="12192000" cy="972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AED24-B007-E70F-4332-70BDC9A31284}"/>
              </a:ext>
            </a:extLst>
          </p:cNvPr>
          <p:cNvSpPr txBox="1"/>
          <p:nvPr/>
        </p:nvSpPr>
        <p:spPr>
          <a:xfrm>
            <a:off x="3870035" y="3176662"/>
            <a:ext cx="832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Includes the effects of the environment in the total system.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58E0499F-6868-1728-BB60-2D02156BCBF6}"/>
              </a:ext>
            </a:extLst>
          </p:cNvPr>
          <p:cNvSpPr/>
          <p:nvPr/>
        </p:nvSpPr>
        <p:spPr>
          <a:xfrm>
            <a:off x="789708" y="1680685"/>
            <a:ext cx="2498435" cy="859104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Closed 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7F12AF24-7E2C-6459-4E34-2FC9FF68B8C7}"/>
              </a:ext>
            </a:extLst>
          </p:cNvPr>
          <p:cNvSpPr/>
          <p:nvPr/>
        </p:nvSpPr>
        <p:spPr>
          <a:xfrm>
            <a:off x="789709" y="3279674"/>
            <a:ext cx="2498434" cy="859104"/>
          </a:xfrm>
          <a:prstGeom prst="homePlate">
            <a:avLst/>
          </a:prstGeom>
          <a:solidFill>
            <a:schemeClr val="accent3">
              <a:lumMod val="20000"/>
              <a:lumOff val="80000"/>
            </a:schemeClr>
          </a:solidFill>
          <a:ln w="222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Open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03D68A-A14D-49BA-F0BD-E44142B862EE}"/>
              </a:ext>
            </a:extLst>
          </p:cNvPr>
          <p:cNvSpPr txBox="1"/>
          <p:nvPr/>
        </p:nvSpPr>
        <p:spPr>
          <a:xfrm>
            <a:off x="3870036" y="1634328"/>
            <a:ext cx="832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Ignores the environment surrounding the system.</a:t>
            </a:r>
          </a:p>
        </p:txBody>
      </p:sp>
      <p:pic>
        <p:nvPicPr>
          <p:cNvPr id="6" name="Picture 5" descr="A group of black symbols&#10;&#10;AI-generated content may be incorrect.">
            <a:extLst>
              <a:ext uri="{FF2B5EF4-FFF2-40B4-BE49-F238E27FC236}">
                <a16:creationId xmlns:a16="http://schemas.microsoft.com/office/drawing/2014/main" id="{B09D892B-7FCE-CA39-102A-2F9DBC8E8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035" y="2174779"/>
            <a:ext cx="3940465" cy="635805"/>
          </a:xfrm>
          <a:prstGeom prst="rect">
            <a:avLst/>
          </a:prstGeom>
        </p:spPr>
      </p:pic>
      <p:pic>
        <p:nvPicPr>
          <p:cNvPr id="10" name="Picture 9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29052ACE-8695-48D3-6037-F8FDE0164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506" y="2126602"/>
            <a:ext cx="2498434" cy="73215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AFE049-5078-D1E4-F93E-CDE78A5BBF39}"/>
              </a:ext>
            </a:extLst>
          </p:cNvPr>
          <p:cNvCxnSpPr/>
          <p:nvPr/>
        </p:nvCxnSpPr>
        <p:spPr>
          <a:xfrm>
            <a:off x="7901940" y="2492680"/>
            <a:ext cx="71628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01E1917D-93A0-DCB2-6C23-E837D1F268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3840054"/>
            <a:ext cx="7894320" cy="868286"/>
          </a:xfrm>
          <a:prstGeom prst="rect">
            <a:avLst/>
          </a:prstGeom>
        </p:spPr>
      </p:pic>
      <p:sp>
        <p:nvSpPr>
          <p:cNvPr id="19" name="Callout: Bent Line 18">
            <a:extLst>
              <a:ext uri="{FF2B5EF4-FFF2-40B4-BE49-F238E27FC236}">
                <a16:creationId xmlns:a16="http://schemas.microsoft.com/office/drawing/2014/main" id="{DB359D42-640A-41D8-131F-838D8345687D}"/>
              </a:ext>
            </a:extLst>
          </p:cNvPr>
          <p:cNvSpPr/>
          <p:nvPr/>
        </p:nvSpPr>
        <p:spPr>
          <a:xfrm>
            <a:off x="7169958" y="4006188"/>
            <a:ext cx="419562" cy="504293"/>
          </a:xfrm>
          <a:prstGeom prst="borderCallout2">
            <a:avLst>
              <a:gd name="adj1" fmla="val 18750"/>
              <a:gd name="adj2" fmla="val -8333"/>
              <a:gd name="adj3" fmla="val 18749"/>
              <a:gd name="adj4" fmla="val -33013"/>
              <a:gd name="adj5" fmla="val 148765"/>
              <a:gd name="adj6" fmla="val -32138"/>
            </a:avLst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Callout: Bent Line 19">
            <a:extLst>
              <a:ext uri="{FF2B5EF4-FFF2-40B4-BE49-F238E27FC236}">
                <a16:creationId xmlns:a16="http://schemas.microsoft.com/office/drawing/2014/main" id="{BDB23CEA-B514-3097-3637-91FE42FC9A92}"/>
              </a:ext>
            </a:extLst>
          </p:cNvPr>
          <p:cNvSpPr/>
          <p:nvPr/>
        </p:nvSpPr>
        <p:spPr>
          <a:xfrm>
            <a:off x="11094720" y="4022051"/>
            <a:ext cx="205740" cy="367070"/>
          </a:xfrm>
          <a:prstGeom prst="borderCallout2">
            <a:avLst>
              <a:gd name="adj1" fmla="val 18750"/>
              <a:gd name="adj2" fmla="val -8333"/>
              <a:gd name="adj3" fmla="val 18961"/>
              <a:gd name="adj4" fmla="val -72080"/>
              <a:gd name="adj5" fmla="val -43701"/>
              <a:gd name="adj6" fmla="val -71380"/>
            </a:avLst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27A78E-A63D-8764-D285-EE5AC8B85DFE}"/>
              </a:ext>
            </a:extLst>
          </p:cNvPr>
          <p:cNvSpPr txBox="1"/>
          <p:nvPr/>
        </p:nvSpPr>
        <p:spPr>
          <a:xfrm>
            <a:off x="6560820" y="4743669"/>
            <a:ext cx="12725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Decay operators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477415-2801-9F6D-41B9-135983EAEC15}"/>
              </a:ext>
            </a:extLst>
          </p:cNvPr>
          <p:cNvSpPr txBox="1"/>
          <p:nvPr/>
        </p:nvSpPr>
        <p:spPr>
          <a:xfrm>
            <a:off x="10664190" y="3420046"/>
            <a:ext cx="12725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Liouvillian superoperator</a:t>
            </a:r>
          </a:p>
        </p:txBody>
      </p:sp>
      <p:pic>
        <p:nvPicPr>
          <p:cNvPr id="24" name="Picture 23" descr="A diagram of a system&#10;&#10;AI-generated content may be incorrect.">
            <a:extLst>
              <a:ext uri="{FF2B5EF4-FFF2-40B4-BE49-F238E27FC236}">
                <a16:creationId xmlns:a16="http://schemas.microsoft.com/office/drawing/2014/main" id="{E49820DE-6E74-15B1-07D1-A956E00D21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93" y="3883824"/>
            <a:ext cx="3129697" cy="3014785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103CD7E-871D-183F-F6BC-E951B92CEA9C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5205549" y="4874474"/>
            <a:ext cx="135527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79A1CB9-3653-DA05-C73C-DD10574A92F2}"/>
              </a:ext>
            </a:extLst>
          </p:cNvPr>
          <p:cNvCxnSpPr>
            <a:cxnSpLocks/>
          </p:cNvCxnSpPr>
          <p:nvPr/>
        </p:nvCxnSpPr>
        <p:spPr>
          <a:xfrm flipH="1">
            <a:off x="7761514" y="4878977"/>
            <a:ext cx="159802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D57726D-1696-BEB7-0BB6-151B1E46C334}"/>
              </a:ext>
            </a:extLst>
          </p:cNvPr>
          <p:cNvCxnSpPr>
            <a:cxnSpLocks/>
          </p:cNvCxnSpPr>
          <p:nvPr/>
        </p:nvCxnSpPr>
        <p:spPr>
          <a:xfrm>
            <a:off x="5205550" y="4874474"/>
            <a:ext cx="0" cy="4355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2247273-E7ED-E226-B94C-CD4EE71CAE31}"/>
              </a:ext>
            </a:extLst>
          </p:cNvPr>
          <p:cNvCxnSpPr>
            <a:cxnSpLocks/>
          </p:cNvCxnSpPr>
          <p:nvPr/>
        </p:nvCxnSpPr>
        <p:spPr>
          <a:xfrm>
            <a:off x="9359538" y="4874474"/>
            <a:ext cx="0" cy="4355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6EFA59D-C94C-C1D4-C4E3-9F9912A3BE00}"/>
              </a:ext>
            </a:extLst>
          </p:cNvPr>
          <p:cNvSpPr txBox="1"/>
          <p:nvPr/>
        </p:nvSpPr>
        <p:spPr>
          <a:xfrm>
            <a:off x="3664676" y="5391292"/>
            <a:ext cx="308174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Spontaneous Atomic Emission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D62520-C5FC-9F66-A074-B2519A6087A7}"/>
              </a:ext>
            </a:extLst>
          </p:cNvPr>
          <p:cNvSpPr txBox="1"/>
          <p:nvPr/>
        </p:nvSpPr>
        <p:spPr>
          <a:xfrm>
            <a:off x="7162802" y="5391292"/>
            <a:ext cx="440653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Thermal Dissipation (Temperature dependent)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A4D4C6-083A-F8E9-DC0E-62D9A07F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40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 animBg="1"/>
      <p:bldP spid="15" grpId="0" animBg="1"/>
      <p:bldP spid="11" grpId="0"/>
      <p:bldP spid="19" grpId="0" animBg="1"/>
      <p:bldP spid="20" grpId="0" animBg="1"/>
      <p:bldP spid="21" grpId="0"/>
      <p:bldP spid="22" grpId="0"/>
      <p:bldP spid="63" grpId="0" animBg="1"/>
      <p:bldP spid="6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1153C-640B-F554-BEAD-06A1E6147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69EAB-0D0C-75F3-F8BF-EFBFCB05F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4036"/>
            <a:ext cx="12192000" cy="734001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Methodology: Initial Conditions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DFDDC3-8125-0563-2257-0D51093751CF}"/>
              </a:ext>
            </a:extLst>
          </p:cNvPr>
          <p:cNvSpPr/>
          <p:nvPr/>
        </p:nvSpPr>
        <p:spPr>
          <a:xfrm>
            <a:off x="0" y="1048037"/>
            <a:ext cx="12192000" cy="972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6E69AC9A-3D04-BFD7-119B-5C4FF7889392}"/>
              </a:ext>
            </a:extLst>
          </p:cNvPr>
          <p:cNvSpPr/>
          <p:nvPr/>
        </p:nvSpPr>
        <p:spPr>
          <a:xfrm>
            <a:off x="789708" y="1680685"/>
            <a:ext cx="2498435" cy="859104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Case 1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AD3EF913-FB55-D693-F91A-7AFB0E389011}"/>
              </a:ext>
            </a:extLst>
          </p:cNvPr>
          <p:cNvSpPr/>
          <p:nvPr/>
        </p:nvSpPr>
        <p:spPr>
          <a:xfrm>
            <a:off x="789709" y="4130251"/>
            <a:ext cx="2498434" cy="859104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bg1"/>
                </a:solidFill>
              </a:rPr>
              <a:t>Case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A1C8DA-91BA-BE13-078A-CB046DDE42EA}"/>
              </a:ext>
            </a:extLst>
          </p:cNvPr>
          <p:cNvSpPr txBox="1"/>
          <p:nvPr/>
        </p:nvSpPr>
        <p:spPr>
          <a:xfrm>
            <a:off x="3870036" y="1680685"/>
            <a:ext cx="832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 subsystem superpositions.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081BD2-E4B1-33E5-C414-E4EC5A11181B}"/>
              </a:ext>
            </a:extLst>
          </p:cNvPr>
          <p:cNvSpPr txBox="1"/>
          <p:nvPr/>
        </p:nvSpPr>
        <p:spPr>
          <a:xfrm>
            <a:off x="3870036" y="4130251"/>
            <a:ext cx="832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Superposition in the TLS subsystem, none in the QHO.</a:t>
            </a:r>
          </a:p>
        </p:txBody>
      </p:sp>
      <p:pic>
        <p:nvPicPr>
          <p:cNvPr id="7" name="Picture 6" descr="A black arrow with a white background&#10;&#10;AI-generated content may be incorrect.">
            <a:extLst>
              <a:ext uri="{FF2B5EF4-FFF2-40B4-BE49-F238E27FC236}">
                <a16:creationId xmlns:a16="http://schemas.microsoft.com/office/drawing/2014/main" id="{36A2C759-7A4E-6315-CAEB-FC677F3CD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037" y="2388914"/>
            <a:ext cx="3628044" cy="536003"/>
          </a:xfrm>
          <a:prstGeom prst="rect">
            <a:avLst/>
          </a:prstGeom>
        </p:spPr>
      </p:pic>
      <p:pic>
        <p:nvPicPr>
          <p:cNvPr id="12" name="Picture 11" descr="A number and symbols on a white background&#10;&#10;AI-generated content may be incorrect.">
            <a:extLst>
              <a:ext uri="{FF2B5EF4-FFF2-40B4-BE49-F238E27FC236}">
                <a16:creationId xmlns:a16="http://schemas.microsoft.com/office/drawing/2014/main" id="{863258AC-D5C2-64B6-1EC5-B4932F9AC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819" y="4803716"/>
            <a:ext cx="6155707" cy="9933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1DC39-16B0-A369-11CF-A47BCFBF6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92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1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D2195-FA52-2CDC-D117-662DB18C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A971B-476D-7AEF-D44E-787B00EB9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4036"/>
            <a:ext cx="12192000" cy="734001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Methodology: Measures of Entanglement, Coherence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A32D23-B7D4-2887-0C68-FE17629374D8}"/>
              </a:ext>
            </a:extLst>
          </p:cNvPr>
          <p:cNvSpPr/>
          <p:nvPr/>
        </p:nvSpPr>
        <p:spPr>
          <a:xfrm>
            <a:off x="0" y="1048037"/>
            <a:ext cx="12192000" cy="972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6D9113-10A7-05BB-BD09-DA47F55BB50E}"/>
              </a:ext>
            </a:extLst>
          </p:cNvPr>
          <p:cNvSpPr/>
          <p:nvPr/>
        </p:nvSpPr>
        <p:spPr>
          <a:xfrm>
            <a:off x="5523345" y="4904509"/>
            <a:ext cx="1089891" cy="701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779360-44F8-FDDE-B97F-E5D2C78B0C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593947"/>
              </p:ext>
            </p:extLst>
          </p:nvPr>
        </p:nvGraphicFramePr>
        <p:xfrm>
          <a:off x="781050" y="1517650"/>
          <a:ext cx="10617201" cy="453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9067">
                  <a:extLst>
                    <a:ext uri="{9D8B030D-6E8A-4147-A177-3AD203B41FA5}">
                      <a16:colId xmlns:a16="http://schemas.microsoft.com/office/drawing/2014/main" val="3918042151"/>
                    </a:ext>
                  </a:extLst>
                </a:gridCol>
                <a:gridCol w="3539067">
                  <a:extLst>
                    <a:ext uri="{9D8B030D-6E8A-4147-A177-3AD203B41FA5}">
                      <a16:colId xmlns:a16="http://schemas.microsoft.com/office/drawing/2014/main" val="1338047126"/>
                    </a:ext>
                  </a:extLst>
                </a:gridCol>
                <a:gridCol w="3539067">
                  <a:extLst>
                    <a:ext uri="{9D8B030D-6E8A-4147-A177-3AD203B41FA5}">
                      <a16:colId xmlns:a16="http://schemas.microsoft.com/office/drawing/2014/main" val="308608108"/>
                    </a:ext>
                  </a:extLst>
                </a:gridCol>
              </a:tblGrid>
              <a:tr h="1511300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Entanglement 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Coherence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674597"/>
                  </a:ext>
                </a:extLst>
              </a:tr>
              <a:tr h="1511300">
                <a:tc>
                  <a:txBody>
                    <a:bodyPr/>
                    <a:lstStyle/>
                    <a:p>
                      <a:r>
                        <a:rPr lang="en-GB" b="1" dirty="0"/>
                        <a:t>Closed Evolution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Von Neumann Entropy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Relative Entropy of Coherence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709655"/>
                  </a:ext>
                </a:extLst>
              </a:tr>
              <a:tr h="1511300">
                <a:tc>
                  <a:txBody>
                    <a:bodyPr/>
                    <a:lstStyle/>
                    <a:p>
                      <a:r>
                        <a:rPr lang="en-GB" b="1" dirty="0"/>
                        <a:t>Open Evolution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Negativity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Relative Entropy of Coherence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67637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54D4D-1A04-0D0C-5C7A-14841427A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445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FF4E9-F1ED-5543-03AC-3851ECF45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DBECA-4C5D-FE94-1D68-5D306AE0E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4036"/>
            <a:ext cx="12192000" cy="734001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JCM: Closed Evolution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6416C9-851B-006C-223E-D412C2F6FC5B}"/>
              </a:ext>
            </a:extLst>
          </p:cNvPr>
          <p:cNvSpPr/>
          <p:nvPr/>
        </p:nvSpPr>
        <p:spPr>
          <a:xfrm>
            <a:off x="0" y="1048037"/>
            <a:ext cx="12192000" cy="972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65360A-337B-A1B4-0F56-ACACC414A8BE}"/>
              </a:ext>
            </a:extLst>
          </p:cNvPr>
          <p:cNvSpPr/>
          <p:nvPr/>
        </p:nvSpPr>
        <p:spPr>
          <a:xfrm>
            <a:off x="5523345" y="5139637"/>
            <a:ext cx="1089891" cy="701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A graph of a graph of a number of atomic states&#10;&#10;AI-generated content may be incorrect.">
            <a:extLst>
              <a:ext uri="{FF2B5EF4-FFF2-40B4-BE49-F238E27FC236}">
                <a16:creationId xmlns:a16="http://schemas.microsoft.com/office/drawing/2014/main" id="{F4932A85-F472-AECE-9CE0-30E9B3AC4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941" y="1235814"/>
            <a:ext cx="3742807" cy="2788273"/>
          </a:xfrm>
          <a:prstGeom prst="rect">
            <a:avLst/>
          </a:prstGeom>
        </p:spPr>
      </p:pic>
      <p:pic>
        <p:nvPicPr>
          <p:cNvPr id="11" name="Picture 10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03FEF063-414A-17F7-AA45-DA26320E9A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940" y="4085604"/>
            <a:ext cx="3742807" cy="278827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EE1A4C8-857D-14B0-5310-481DED7B9706}"/>
              </a:ext>
            </a:extLst>
          </p:cNvPr>
          <p:cNvSpPr txBox="1"/>
          <p:nvPr/>
        </p:nvSpPr>
        <p:spPr>
          <a:xfrm>
            <a:off x="137160" y="1655353"/>
            <a:ext cx="1741067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Case 1 (No superpositions)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DE94C76-2CAA-0F22-B212-819C4397E810}"/>
              </a:ext>
            </a:extLst>
          </p:cNvPr>
          <p:cNvCxnSpPr>
            <a:cxnSpLocks/>
          </p:cNvCxnSpPr>
          <p:nvPr/>
        </p:nvCxnSpPr>
        <p:spPr>
          <a:xfrm>
            <a:off x="209008" y="4038056"/>
            <a:ext cx="11456129" cy="0"/>
          </a:xfrm>
          <a:prstGeom prst="line">
            <a:avLst/>
          </a:prstGeom>
          <a:ln w="19050" cap="flat" cmpd="sng" algn="ctr">
            <a:solidFill>
              <a:schemeClr val="accent2">
                <a:lumMod val="75000"/>
                <a:alpha val="2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1959B6-6A15-53C1-DB5C-DE977E336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9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6C8CC2-32EB-1464-FA06-4BA2F56D293B}"/>
              </a:ext>
            </a:extLst>
          </p:cNvPr>
          <p:cNvSpPr txBox="1"/>
          <p:nvPr/>
        </p:nvSpPr>
        <p:spPr>
          <a:xfrm>
            <a:off x="209008" y="4085604"/>
            <a:ext cx="1866927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Case 2 (superpositions)</a:t>
            </a:r>
          </a:p>
        </p:txBody>
      </p:sp>
    </p:spTree>
    <p:extLst>
      <p:ext uri="{BB962C8B-B14F-4D97-AF65-F5344CB8AC3E}">
        <p14:creationId xmlns:p14="http://schemas.microsoft.com/office/powerpoint/2010/main" val="175598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D14FD-64BF-5000-EB90-AE337C1FE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4A0F9-CD75-C3A4-B145-AD3034F20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4036"/>
            <a:ext cx="12192000" cy="734001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JCM: Closed Evolution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62B18C-3264-5DF2-1694-9EDA54AE4364}"/>
              </a:ext>
            </a:extLst>
          </p:cNvPr>
          <p:cNvSpPr/>
          <p:nvPr/>
        </p:nvSpPr>
        <p:spPr>
          <a:xfrm>
            <a:off x="0" y="1048037"/>
            <a:ext cx="12192000" cy="972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643033-E7DA-1C4E-A6B9-9B3E1A33FD1C}"/>
              </a:ext>
            </a:extLst>
          </p:cNvPr>
          <p:cNvSpPr/>
          <p:nvPr/>
        </p:nvSpPr>
        <p:spPr>
          <a:xfrm>
            <a:off x="5523345" y="5139637"/>
            <a:ext cx="1089891" cy="701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graph of a diagram&#10;&#10;AI-generated content may be incorrect.">
            <a:extLst>
              <a:ext uri="{FF2B5EF4-FFF2-40B4-BE49-F238E27FC236}">
                <a16:creationId xmlns:a16="http://schemas.microsoft.com/office/drawing/2014/main" id="{2A38FBA0-AA44-4ABE-F4A3-99AC26BE4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786" y="1186997"/>
            <a:ext cx="3731963" cy="2780194"/>
          </a:xfrm>
          <a:prstGeom prst="rect">
            <a:avLst/>
          </a:prstGeom>
        </p:spPr>
      </p:pic>
      <p:pic>
        <p:nvPicPr>
          <p:cNvPr id="7" name="Picture 6" descr="A graph of a diagram&#10;&#10;AI-generated content may be incorrect.">
            <a:extLst>
              <a:ext uri="{FF2B5EF4-FFF2-40B4-BE49-F238E27FC236}">
                <a16:creationId xmlns:a16="http://schemas.microsoft.com/office/drawing/2014/main" id="{7B453F58-02D2-643B-43C1-E6CA8196E4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786" y="4018151"/>
            <a:ext cx="3731963" cy="2780194"/>
          </a:xfrm>
          <a:prstGeom prst="rect">
            <a:avLst/>
          </a:prstGeom>
        </p:spPr>
      </p:pic>
      <p:pic>
        <p:nvPicPr>
          <p:cNvPr id="13" name="Picture 12" descr="A graph of a wave&#10;&#10;AI-generated content may be incorrect.">
            <a:extLst>
              <a:ext uri="{FF2B5EF4-FFF2-40B4-BE49-F238E27FC236}">
                <a16:creationId xmlns:a16="http://schemas.microsoft.com/office/drawing/2014/main" id="{B8AAC2D6-3CF4-A77A-CF07-0AA0DF0DA7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412" y="1186997"/>
            <a:ext cx="3731963" cy="2780193"/>
          </a:xfrm>
          <a:prstGeom prst="rect">
            <a:avLst/>
          </a:prstGeom>
        </p:spPr>
      </p:pic>
      <p:pic>
        <p:nvPicPr>
          <p:cNvPr id="15" name="Picture 14" descr="A graph of a wave&#10;&#10;AI-generated content may be incorrect.">
            <a:extLst>
              <a:ext uri="{FF2B5EF4-FFF2-40B4-BE49-F238E27FC236}">
                <a16:creationId xmlns:a16="http://schemas.microsoft.com/office/drawing/2014/main" id="{8929276F-5213-7312-450B-6FEE089188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412" y="4058278"/>
            <a:ext cx="3731963" cy="278019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0092491-20FF-A614-FD60-3BA7B785D37F}"/>
              </a:ext>
            </a:extLst>
          </p:cNvPr>
          <p:cNvCxnSpPr>
            <a:cxnSpLocks/>
          </p:cNvCxnSpPr>
          <p:nvPr/>
        </p:nvCxnSpPr>
        <p:spPr>
          <a:xfrm>
            <a:off x="183608" y="3967190"/>
            <a:ext cx="11456129" cy="0"/>
          </a:xfrm>
          <a:prstGeom prst="line">
            <a:avLst/>
          </a:prstGeom>
          <a:ln w="19050" cap="flat" cmpd="sng" algn="ctr">
            <a:solidFill>
              <a:schemeClr val="accent2">
                <a:lumMod val="75000"/>
                <a:alpha val="2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4F3FB2-B7F1-D94F-1802-31F7D21BAA86}"/>
              </a:ext>
            </a:extLst>
          </p:cNvPr>
          <p:cNvCxnSpPr>
            <a:cxnSpLocks/>
          </p:cNvCxnSpPr>
          <p:nvPr/>
        </p:nvCxnSpPr>
        <p:spPr>
          <a:xfrm>
            <a:off x="9982199" y="3549106"/>
            <a:ext cx="419100" cy="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AA57D38-1F3A-C5B5-5EE5-984B6B9BE9AB}"/>
              </a:ext>
            </a:extLst>
          </p:cNvPr>
          <p:cNvSpPr txBox="1"/>
          <p:nvPr/>
        </p:nvSpPr>
        <p:spPr>
          <a:xfrm>
            <a:off x="10375900" y="3419673"/>
            <a:ext cx="1111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No coherence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42B293-E85A-2449-60C9-F3BF7573C005}"/>
              </a:ext>
            </a:extLst>
          </p:cNvPr>
          <p:cNvSpPr/>
          <p:nvPr/>
        </p:nvSpPr>
        <p:spPr>
          <a:xfrm>
            <a:off x="2427098" y="4111270"/>
            <a:ext cx="240378" cy="16237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4B117F-89F7-B7B5-2BB4-CEB4585B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10</a:t>
            </a:fld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58CCFD-8F54-14DE-176B-A30B6CB4C0C9}"/>
              </a:ext>
            </a:extLst>
          </p:cNvPr>
          <p:cNvSpPr/>
          <p:nvPr/>
        </p:nvSpPr>
        <p:spPr>
          <a:xfrm>
            <a:off x="2382765" y="1243716"/>
            <a:ext cx="240378" cy="16237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40EB9B-443F-EED2-F7E4-896937FF62E8}"/>
              </a:ext>
            </a:extLst>
          </p:cNvPr>
          <p:cNvSpPr txBox="1"/>
          <p:nvPr/>
        </p:nvSpPr>
        <p:spPr>
          <a:xfrm>
            <a:off x="37893" y="1232979"/>
            <a:ext cx="1741067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Case 1 (No superpositions)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135A64-1720-67E4-6246-2C1E25B96790}"/>
              </a:ext>
            </a:extLst>
          </p:cNvPr>
          <p:cNvSpPr txBox="1"/>
          <p:nvPr/>
        </p:nvSpPr>
        <p:spPr>
          <a:xfrm>
            <a:off x="97935" y="4062108"/>
            <a:ext cx="1829720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Case 2 (superpositions)</a:t>
            </a:r>
          </a:p>
        </p:txBody>
      </p:sp>
    </p:spTree>
    <p:extLst>
      <p:ext uri="{BB962C8B-B14F-4D97-AF65-F5344CB8AC3E}">
        <p14:creationId xmlns:p14="http://schemas.microsoft.com/office/powerpoint/2010/main" val="140692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A775C-139D-A97B-0163-89392A8F1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951C-AE0E-A091-8CB0-3E3DF6AF4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4036"/>
            <a:ext cx="12192000" cy="734001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JCM: Open Evolution (Spontaneous Emission Only)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A66DF0-7B80-5ACA-DD04-970DE0F417A9}"/>
              </a:ext>
            </a:extLst>
          </p:cNvPr>
          <p:cNvSpPr/>
          <p:nvPr/>
        </p:nvSpPr>
        <p:spPr>
          <a:xfrm>
            <a:off x="0" y="1048037"/>
            <a:ext cx="12192000" cy="972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5EF414-DA3B-056B-739A-176F0E042DB8}"/>
              </a:ext>
            </a:extLst>
          </p:cNvPr>
          <p:cNvSpPr/>
          <p:nvPr/>
        </p:nvSpPr>
        <p:spPr>
          <a:xfrm>
            <a:off x="5523345" y="4904509"/>
            <a:ext cx="1089891" cy="701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330B9E7B-5671-8741-0D1A-4658A4F5D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879" y="1443374"/>
            <a:ext cx="3386904" cy="2527822"/>
          </a:xfrm>
          <a:prstGeom prst="rect">
            <a:avLst/>
          </a:prstGeom>
        </p:spPr>
      </p:pic>
      <p:pic>
        <p:nvPicPr>
          <p:cNvPr id="13" name="Picture 12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F73723A6-EF5E-EFCE-48AC-E53988FB2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879" y="4150715"/>
            <a:ext cx="3386904" cy="2527822"/>
          </a:xfrm>
          <a:prstGeom prst="rect">
            <a:avLst/>
          </a:prstGeom>
        </p:spPr>
      </p:pic>
      <p:pic>
        <p:nvPicPr>
          <p:cNvPr id="15" name="Picture 14" descr="A graph of a function&#10;&#10;AI-generated content may be incorrect.">
            <a:extLst>
              <a:ext uri="{FF2B5EF4-FFF2-40B4-BE49-F238E27FC236}">
                <a16:creationId xmlns:a16="http://schemas.microsoft.com/office/drawing/2014/main" id="{B5983E48-8AE4-52D2-1DF7-C8B289621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593" y="1443374"/>
            <a:ext cx="3386904" cy="2527822"/>
          </a:xfrm>
          <a:prstGeom prst="rect">
            <a:avLst/>
          </a:prstGeom>
        </p:spPr>
      </p:pic>
      <p:pic>
        <p:nvPicPr>
          <p:cNvPr id="18" name="Picture 17" descr="A graph of a function&#10;&#10;AI-generated content may be incorrect.">
            <a:extLst>
              <a:ext uri="{FF2B5EF4-FFF2-40B4-BE49-F238E27FC236}">
                <a16:creationId xmlns:a16="http://schemas.microsoft.com/office/drawing/2014/main" id="{52B7A490-8C21-AC4E-98D7-3D08D01750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88" y="4121196"/>
            <a:ext cx="3386904" cy="2527822"/>
          </a:xfrm>
          <a:prstGeom prst="rect">
            <a:avLst/>
          </a:prstGeom>
        </p:spPr>
      </p:pic>
      <p:pic>
        <p:nvPicPr>
          <p:cNvPr id="20" name="Picture 19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DF5CDE2E-B8C8-F6FC-1800-5FF1846C83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455" y="4121196"/>
            <a:ext cx="3386904" cy="2527822"/>
          </a:xfrm>
          <a:prstGeom prst="rect">
            <a:avLst/>
          </a:prstGeom>
        </p:spPr>
      </p:pic>
      <p:pic>
        <p:nvPicPr>
          <p:cNvPr id="22" name="Picture 21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43B46B59-CAA3-7D18-C4FE-EDE4158E3C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455" y="1443374"/>
            <a:ext cx="3386904" cy="252782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1E1AC5E-5017-66F5-695F-AC6A73B43019}"/>
              </a:ext>
            </a:extLst>
          </p:cNvPr>
          <p:cNvSpPr/>
          <p:nvPr/>
        </p:nvSpPr>
        <p:spPr>
          <a:xfrm>
            <a:off x="5323114" y="1482559"/>
            <a:ext cx="249335" cy="12417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C44DFE-AAC3-C4D0-4CFF-56FCD78C92FD}"/>
              </a:ext>
            </a:extLst>
          </p:cNvPr>
          <p:cNvSpPr txBox="1"/>
          <p:nvPr/>
        </p:nvSpPr>
        <p:spPr>
          <a:xfrm>
            <a:off x="160217" y="1443374"/>
            <a:ext cx="107768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Case 1: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9F7D4AB-968A-3B8D-3BFC-A529468BB730}"/>
              </a:ext>
            </a:extLst>
          </p:cNvPr>
          <p:cNvCxnSpPr/>
          <p:nvPr/>
        </p:nvCxnSpPr>
        <p:spPr>
          <a:xfrm>
            <a:off x="431966" y="3971196"/>
            <a:ext cx="11599817" cy="0"/>
          </a:xfrm>
          <a:prstGeom prst="line">
            <a:avLst/>
          </a:prstGeom>
          <a:ln w="19050" cap="flat" cmpd="sng" algn="ctr">
            <a:solidFill>
              <a:schemeClr val="accent2">
                <a:lumMod val="75000"/>
                <a:alpha val="2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FBC1D71-ACD3-4E19-7E9D-42A3324FD39E}"/>
              </a:ext>
            </a:extLst>
          </p:cNvPr>
          <p:cNvSpPr txBox="1"/>
          <p:nvPr/>
        </p:nvSpPr>
        <p:spPr>
          <a:xfrm>
            <a:off x="160217" y="4118319"/>
            <a:ext cx="107768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Case 2: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6AD865-32DA-6886-D398-7D7BB57BFB5C}"/>
              </a:ext>
            </a:extLst>
          </p:cNvPr>
          <p:cNvSpPr/>
          <p:nvPr/>
        </p:nvSpPr>
        <p:spPr>
          <a:xfrm>
            <a:off x="8715399" y="1546854"/>
            <a:ext cx="240378" cy="16237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F765D-AD93-FC26-3B4E-06BDF438C970}"/>
              </a:ext>
            </a:extLst>
          </p:cNvPr>
          <p:cNvSpPr/>
          <p:nvPr/>
        </p:nvSpPr>
        <p:spPr>
          <a:xfrm>
            <a:off x="8715399" y="4372741"/>
            <a:ext cx="240378" cy="16237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7237AA-306B-143F-2603-F0445851DE27}"/>
              </a:ext>
            </a:extLst>
          </p:cNvPr>
          <p:cNvSpPr/>
          <p:nvPr/>
        </p:nvSpPr>
        <p:spPr>
          <a:xfrm>
            <a:off x="5274010" y="4219302"/>
            <a:ext cx="298439" cy="16536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0BE67E-4A28-B7CA-F1CA-39B7EC612B21}"/>
              </a:ext>
            </a:extLst>
          </p:cNvPr>
          <p:cNvCxnSpPr/>
          <p:nvPr/>
        </p:nvCxnSpPr>
        <p:spPr>
          <a:xfrm>
            <a:off x="7400109" y="3553097"/>
            <a:ext cx="0" cy="914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A0910-7E7A-DE2A-797F-8912FA80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793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28" grpId="0" animBg="1"/>
      <p:bldP spid="3" grpId="0" animBg="1"/>
      <p:bldP spid="4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22B4F-5A92-782D-E01E-BEFB8223C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7FA9-E7E5-1B99-4B4D-CBA39EE50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4036"/>
            <a:ext cx="12192000" cy="734001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EVM: Closed Evolution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6287CE-A69C-9466-3CA7-F28723395935}"/>
              </a:ext>
            </a:extLst>
          </p:cNvPr>
          <p:cNvSpPr/>
          <p:nvPr/>
        </p:nvSpPr>
        <p:spPr>
          <a:xfrm>
            <a:off x="0" y="1048037"/>
            <a:ext cx="12192000" cy="972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5CBCEA-5B60-6EDB-8644-55B9EAA0A312}"/>
              </a:ext>
            </a:extLst>
          </p:cNvPr>
          <p:cNvSpPr/>
          <p:nvPr/>
        </p:nvSpPr>
        <p:spPr>
          <a:xfrm>
            <a:off x="5523345" y="4904509"/>
            <a:ext cx="1089891" cy="701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graph of a waveform&#10;&#10;AI-generated content may be incorrect.">
            <a:extLst>
              <a:ext uri="{FF2B5EF4-FFF2-40B4-BE49-F238E27FC236}">
                <a16:creationId xmlns:a16="http://schemas.microsoft.com/office/drawing/2014/main" id="{1A7003F2-481C-085C-681A-0B6A685A1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072" y="4160012"/>
            <a:ext cx="3339987" cy="2488184"/>
          </a:xfrm>
          <a:prstGeom prst="rect">
            <a:avLst/>
          </a:prstGeom>
        </p:spPr>
      </p:pic>
      <p:pic>
        <p:nvPicPr>
          <p:cNvPr id="7" name="Picture 6" descr="A diagram of a waveform&#10;&#10;AI-generated content may be incorrect.">
            <a:extLst>
              <a:ext uri="{FF2B5EF4-FFF2-40B4-BE49-F238E27FC236}">
                <a16:creationId xmlns:a16="http://schemas.microsoft.com/office/drawing/2014/main" id="{4DC6687A-3E98-09B2-0B25-778A3C9A7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072" y="1521951"/>
            <a:ext cx="3339986" cy="2487299"/>
          </a:xfrm>
          <a:prstGeom prst="rect">
            <a:avLst/>
          </a:prstGeom>
        </p:spPr>
      </p:pic>
      <p:pic>
        <p:nvPicPr>
          <p:cNvPr id="9" name="Picture 8" descr="A graph of a function&#10;&#10;AI-generated content may be incorrect.">
            <a:extLst>
              <a:ext uri="{FF2B5EF4-FFF2-40B4-BE49-F238E27FC236}">
                <a16:creationId xmlns:a16="http://schemas.microsoft.com/office/drawing/2014/main" id="{9E33489D-DE11-5D25-8CB2-EA05857964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39" y="4160012"/>
            <a:ext cx="3339987" cy="2488184"/>
          </a:xfrm>
          <a:prstGeom prst="rect">
            <a:avLst/>
          </a:prstGeom>
        </p:spPr>
      </p:pic>
      <p:pic>
        <p:nvPicPr>
          <p:cNvPr id="11" name="Picture 10" descr="A graph of a wave&#10;&#10;AI-generated content may be incorrect.">
            <a:extLst>
              <a:ext uri="{FF2B5EF4-FFF2-40B4-BE49-F238E27FC236}">
                <a16:creationId xmlns:a16="http://schemas.microsoft.com/office/drawing/2014/main" id="{642A36F6-E97B-F948-3C16-9352D42A7F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739" y="1521951"/>
            <a:ext cx="3339987" cy="2488184"/>
          </a:xfrm>
          <a:prstGeom prst="rect">
            <a:avLst/>
          </a:prstGeom>
        </p:spPr>
      </p:pic>
      <p:pic>
        <p:nvPicPr>
          <p:cNvPr id="13" name="Picture 12" descr="A graph of a wave&#10;&#10;AI-generated content may be incorrect.">
            <a:extLst>
              <a:ext uri="{FF2B5EF4-FFF2-40B4-BE49-F238E27FC236}">
                <a16:creationId xmlns:a16="http://schemas.microsoft.com/office/drawing/2014/main" id="{7D65887C-BE6D-F659-8A6B-BEF884579D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242" y="1521951"/>
            <a:ext cx="3339987" cy="2488184"/>
          </a:xfrm>
          <a:prstGeom prst="rect">
            <a:avLst/>
          </a:prstGeom>
        </p:spPr>
      </p:pic>
      <p:pic>
        <p:nvPicPr>
          <p:cNvPr id="15" name="Picture 14" descr="A graph of a graph&#10;&#10;AI-generated content may be incorrect.">
            <a:extLst>
              <a:ext uri="{FF2B5EF4-FFF2-40B4-BE49-F238E27FC236}">
                <a16:creationId xmlns:a16="http://schemas.microsoft.com/office/drawing/2014/main" id="{C29C03B1-1792-1A77-3B82-A15A54ED49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749" y="4160012"/>
            <a:ext cx="3339987" cy="24881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542D463-6CBC-C672-8EBB-04CC4D9FBE47}"/>
              </a:ext>
            </a:extLst>
          </p:cNvPr>
          <p:cNvSpPr txBox="1"/>
          <p:nvPr/>
        </p:nvSpPr>
        <p:spPr>
          <a:xfrm>
            <a:off x="109053" y="1521951"/>
            <a:ext cx="107768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Case 1: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B23D96-2FDA-1668-D1B9-2717484C5C4E}"/>
              </a:ext>
            </a:extLst>
          </p:cNvPr>
          <p:cNvSpPr txBox="1"/>
          <p:nvPr/>
        </p:nvSpPr>
        <p:spPr>
          <a:xfrm>
            <a:off x="109053" y="4160012"/>
            <a:ext cx="107768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Case 2: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5E91F98-A4C7-5035-8706-B5BC64E78EB0}"/>
              </a:ext>
            </a:extLst>
          </p:cNvPr>
          <p:cNvCxnSpPr>
            <a:cxnSpLocks/>
          </p:cNvCxnSpPr>
          <p:nvPr/>
        </p:nvCxnSpPr>
        <p:spPr>
          <a:xfrm>
            <a:off x="485057" y="4009250"/>
            <a:ext cx="11238857" cy="0"/>
          </a:xfrm>
          <a:prstGeom prst="line">
            <a:avLst/>
          </a:prstGeom>
          <a:ln w="19050" cap="flat" cmpd="sng" algn="ctr">
            <a:solidFill>
              <a:schemeClr val="accent2">
                <a:lumMod val="75000"/>
                <a:alpha val="2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A2C7D61-06AD-CE37-B7DF-3001ABA8E21B}"/>
              </a:ext>
            </a:extLst>
          </p:cNvPr>
          <p:cNvSpPr/>
          <p:nvPr/>
        </p:nvSpPr>
        <p:spPr>
          <a:xfrm>
            <a:off x="8506393" y="1521067"/>
            <a:ext cx="240378" cy="16237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EE3867-D9AD-CB34-7D3D-8DE21148C83C}"/>
              </a:ext>
            </a:extLst>
          </p:cNvPr>
          <p:cNvSpPr/>
          <p:nvPr/>
        </p:nvSpPr>
        <p:spPr>
          <a:xfrm>
            <a:off x="5014154" y="1544245"/>
            <a:ext cx="240378" cy="16237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E60302-1E92-C49D-D8D6-7094908BC9C4}"/>
              </a:ext>
            </a:extLst>
          </p:cNvPr>
          <p:cNvSpPr/>
          <p:nvPr/>
        </p:nvSpPr>
        <p:spPr>
          <a:xfrm>
            <a:off x="5014154" y="4448158"/>
            <a:ext cx="240378" cy="16237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027CB4-0B8F-C25F-E4C3-73878CEE0F0C}"/>
              </a:ext>
            </a:extLst>
          </p:cNvPr>
          <p:cNvSpPr/>
          <p:nvPr/>
        </p:nvSpPr>
        <p:spPr>
          <a:xfrm>
            <a:off x="8506393" y="4182306"/>
            <a:ext cx="240378" cy="16237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16A4F9-9ACC-C326-7DFB-CCACE900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86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3" grpId="0" animBg="1"/>
      <p:bldP spid="6" grpId="0" animBg="1"/>
      <p:bldP spid="8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66DD9-A9A5-ACCE-099A-24804F42C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FEDE-02B6-2CD5-9B55-DECD78DAB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4036"/>
            <a:ext cx="12192000" cy="734001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EVM: Open Evolution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82BD42-05A6-B16E-9BDC-6544DBB72FED}"/>
              </a:ext>
            </a:extLst>
          </p:cNvPr>
          <p:cNvSpPr/>
          <p:nvPr/>
        </p:nvSpPr>
        <p:spPr>
          <a:xfrm>
            <a:off x="0" y="1048037"/>
            <a:ext cx="12192000" cy="972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631AF2-B019-2ACC-4BD1-4CB19F8BE37F}"/>
              </a:ext>
            </a:extLst>
          </p:cNvPr>
          <p:cNvSpPr/>
          <p:nvPr/>
        </p:nvSpPr>
        <p:spPr>
          <a:xfrm>
            <a:off x="5497945" y="4942609"/>
            <a:ext cx="1089891" cy="701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graph of a line&#10;&#10;AI-generated content may be incorrect.">
            <a:extLst>
              <a:ext uri="{FF2B5EF4-FFF2-40B4-BE49-F238E27FC236}">
                <a16:creationId xmlns:a16="http://schemas.microsoft.com/office/drawing/2014/main" id="{B0842CC6-AE80-4CF5-035E-01E87D5C5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525" y="1352823"/>
            <a:ext cx="3527420" cy="2627816"/>
          </a:xfrm>
          <a:prstGeom prst="rect">
            <a:avLst/>
          </a:prstGeom>
        </p:spPr>
      </p:pic>
      <p:pic>
        <p:nvPicPr>
          <p:cNvPr id="7" name="Picture 6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7B97536C-F6F9-4FD9-2548-9E7E3B841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726" y="4119138"/>
            <a:ext cx="3578217" cy="2665658"/>
          </a:xfrm>
          <a:prstGeom prst="rect">
            <a:avLst/>
          </a:prstGeom>
        </p:spPr>
      </p:pic>
      <p:pic>
        <p:nvPicPr>
          <p:cNvPr id="9" name="Picture 8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CE95163B-84E5-2C03-5A0D-5F45711742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532" y="1364325"/>
            <a:ext cx="3527418" cy="2627814"/>
          </a:xfrm>
          <a:prstGeom prst="rect">
            <a:avLst/>
          </a:prstGeom>
        </p:spPr>
      </p:pic>
      <p:pic>
        <p:nvPicPr>
          <p:cNvPr id="11" name="Picture 10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B317CE8-633F-545E-F9EC-E1201E7539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532" y="4156981"/>
            <a:ext cx="3527420" cy="2627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FE6020-E17F-2008-716C-B60F3055D586}"/>
              </a:ext>
            </a:extLst>
          </p:cNvPr>
          <p:cNvSpPr txBox="1"/>
          <p:nvPr/>
        </p:nvSpPr>
        <p:spPr>
          <a:xfrm>
            <a:off x="229703" y="1326481"/>
            <a:ext cx="107768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Case 1: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CE7335-9796-6D8B-B57B-F0A06CB692C2}"/>
              </a:ext>
            </a:extLst>
          </p:cNvPr>
          <p:cNvSpPr txBox="1"/>
          <p:nvPr/>
        </p:nvSpPr>
        <p:spPr>
          <a:xfrm>
            <a:off x="229703" y="4119139"/>
            <a:ext cx="107768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Case 2: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4B1CCF-21BF-70F3-6B3F-C6DBF6BF1264}"/>
              </a:ext>
            </a:extLst>
          </p:cNvPr>
          <p:cNvCxnSpPr>
            <a:cxnSpLocks/>
          </p:cNvCxnSpPr>
          <p:nvPr/>
        </p:nvCxnSpPr>
        <p:spPr>
          <a:xfrm>
            <a:off x="229703" y="3969139"/>
            <a:ext cx="10165247" cy="23000"/>
          </a:xfrm>
          <a:prstGeom prst="line">
            <a:avLst/>
          </a:prstGeom>
          <a:ln w="19050" cap="flat" cmpd="sng" algn="ctr">
            <a:solidFill>
              <a:schemeClr val="accent2">
                <a:lumMod val="75000"/>
                <a:alpha val="2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D0C4117-54C7-C43D-E831-B4D3E822285C}"/>
              </a:ext>
            </a:extLst>
          </p:cNvPr>
          <p:cNvCxnSpPr>
            <a:cxnSpLocks/>
          </p:cNvCxnSpPr>
          <p:nvPr/>
        </p:nvCxnSpPr>
        <p:spPr>
          <a:xfrm>
            <a:off x="2311400" y="3587750"/>
            <a:ext cx="3186545" cy="0"/>
          </a:xfrm>
          <a:prstGeom prst="line">
            <a:avLst/>
          </a:prstGeom>
          <a:ln w="158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F800444-DB7D-0412-1119-303B3B9764C5}"/>
              </a:ext>
            </a:extLst>
          </p:cNvPr>
          <p:cNvCxnSpPr>
            <a:cxnSpLocks/>
          </p:cNvCxnSpPr>
          <p:nvPr/>
        </p:nvCxnSpPr>
        <p:spPr>
          <a:xfrm>
            <a:off x="7208405" y="3594376"/>
            <a:ext cx="3186545" cy="0"/>
          </a:xfrm>
          <a:prstGeom prst="line">
            <a:avLst/>
          </a:prstGeom>
          <a:ln w="158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39AD5B-F088-20CA-7EC6-08C9E48EF972}"/>
              </a:ext>
            </a:extLst>
          </p:cNvPr>
          <p:cNvCxnSpPr>
            <a:cxnSpLocks/>
          </p:cNvCxnSpPr>
          <p:nvPr/>
        </p:nvCxnSpPr>
        <p:spPr>
          <a:xfrm>
            <a:off x="2289933" y="6380319"/>
            <a:ext cx="3186545" cy="0"/>
          </a:xfrm>
          <a:prstGeom prst="line">
            <a:avLst/>
          </a:prstGeom>
          <a:ln w="158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42C6C46-F707-A4D0-3EBD-638789082321}"/>
              </a:ext>
            </a:extLst>
          </p:cNvPr>
          <p:cNvCxnSpPr>
            <a:cxnSpLocks/>
          </p:cNvCxnSpPr>
          <p:nvPr/>
        </p:nvCxnSpPr>
        <p:spPr>
          <a:xfrm>
            <a:off x="7208405" y="6386945"/>
            <a:ext cx="3186545" cy="0"/>
          </a:xfrm>
          <a:prstGeom prst="line">
            <a:avLst/>
          </a:prstGeom>
          <a:ln w="158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B1D76B-9EE9-ABFF-5282-2006F76BC199}"/>
              </a:ext>
            </a:extLst>
          </p:cNvPr>
          <p:cNvCxnSpPr>
            <a:cxnSpLocks/>
          </p:cNvCxnSpPr>
          <p:nvPr/>
        </p:nvCxnSpPr>
        <p:spPr>
          <a:xfrm>
            <a:off x="5309802" y="3542029"/>
            <a:ext cx="379072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D359689-7DED-A381-D274-C0E7A5CF736F}"/>
              </a:ext>
            </a:extLst>
          </p:cNvPr>
          <p:cNvSpPr txBox="1"/>
          <p:nvPr/>
        </p:nvSpPr>
        <p:spPr>
          <a:xfrm>
            <a:off x="5632597" y="3321363"/>
            <a:ext cx="138014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Residual entanglement and coherence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1171FDE-AB11-1BE7-8D8A-553E2C14ACE9}"/>
              </a:ext>
            </a:extLst>
          </p:cNvPr>
          <p:cNvCxnSpPr>
            <a:cxnSpLocks/>
          </p:cNvCxnSpPr>
          <p:nvPr/>
        </p:nvCxnSpPr>
        <p:spPr>
          <a:xfrm flipH="1">
            <a:off x="6779623" y="3557087"/>
            <a:ext cx="1410788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AAA01B-3A28-7CC7-54E0-79968A4F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12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53A6-A6D6-08F9-2C8E-E5D946181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62CC-72C7-2E1C-824A-CF0981D9D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4036"/>
            <a:ext cx="12192000" cy="734001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/>
              <a:t>Conclusion and Outlook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AFC0FB-C2E3-7D0E-F387-5ABAE9730D38}"/>
              </a:ext>
            </a:extLst>
          </p:cNvPr>
          <p:cNvSpPr/>
          <p:nvPr/>
        </p:nvSpPr>
        <p:spPr>
          <a:xfrm>
            <a:off x="0" y="1048037"/>
            <a:ext cx="12192000" cy="9727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EC0312-06C2-C518-FD9D-6B7DCBC6997A}"/>
              </a:ext>
            </a:extLst>
          </p:cNvPr>
          <p:cNvSpPr/>
          <p:nvPr/>
        </p:nvSpPr>
        <p:spPr>
          <a:xfrm>
            <a:off x="5523345" y="4904509"/>
            <a:ext cx="1089891" cy="701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C2CE7-88B5-5207-4FBD-D9DFC4DBC9BC}"/>
              </a:ext>
            </a:extLst>
          </p:cNvPr>
          <p:cNvSpPr txBox="1"/>
          <p:nvPr/>
        </p:nvSpPr>
        <p:spPr>
          <a:xfrm>
            <a:off x="548640" y="3206635"/>
            <a:ext cx="11103429" cy="2776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GB" dirty="0"/>
              <a:t>Due to </a:t>
            </a:r>
            <a:r>
              <a:rPr lang="en-GB" b="1" dirty="0"/>
              <a:t>couplings</a:t>
            </a:r>
            <a:r>
              <a:rPr lang="en-GB" dirty="0"/>
              <a:t> between the two subsystems.</a:t>
            </a:r>
          </a:p>
          <a:p>
            <a:pPr marL="285750" indent="-285750">
              <a:lnSpc>
                <a:spcPct val="20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GB" dirty="0"/>
              <a:t>Entanglement is more </a:t>
            </a:r>
            <a:r>
              <a:rPr lang="en-GB" b="1" dirty="0"/>
              <a:t>fragile</a:t>
            </a:r>
            <a:r>
              <a:rPr lang="en-GB" dirty="0"/>
              <a:t>; decays roughly twice as fast under open dynamics.</a:t>
            </a:r>
          </a:p>
          <a:p>
            <a:pPr marL="285750" indent="-285750">
              <a:lnSpc>
                <a:spcPct val="20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GB" dirty="0"/>
              <a:t>Sensitive to </a:t>
            </a:r>
            <a:r>
              <a:rPr lang="en-GB" b="1" dirty="0"/>
              <a:t>initial conditions</a:t>
            </a:r>
            <a:r>
              <a:rPr lang="en-GB" dirty="0"/>
              <a:t>.</a:t>
            </a:r>
          </a:p>
          <a:p>
            <a:pPr marL="285750" indent="-285750">
              <a:lnSpc>
                <a:spcPct val="20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GB" b="1" dirty="0"/>
              <a:t>Trade-off</a:t>
            </a:r>
            <a:r>
              <a:rPr lang="en-GB" dirty="0"/>
              <a:t> between the two resources.</a:t>
            </a:r>
          </a:p>
          <a:p>
            <a:pPr marL="285750" indent="-285750">
              <a:lnSpc>
                <a:spcPct val="20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q"/>
            </a:pPr>
            <a:r>
              <a:rPr lang="en-GB" b="1" dirty="0"/>
              <a:t>Higher temperature </a:t>
            </a:r>
            <a:r>
              <a:rPr lang="en-GB" dirty="0"/>
              <a:t>environment/bath may yield </a:t>
            </a:r>
            <a:r>
              <a:rPr lang="en-GB" b="1" dirty="0"/>
              <a:t>residual</a:t>
            </a:r>
            <a:r>
              <a:rPr lang="en-GB" dirty="0"/>
              <a:t> entanglement/coherence.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50200-111C-57BF-49C0-F5372F64D254}"/>
              </a:ext>
            </a:extLst>
          </p:cNvPr>
          <p:cNvSpPr txBox="1"/>
          <p:nvPr/>
        </p:nvSpPr>
        <p:spPr>
          <a:xfrm>
            <a:off x="773430" y="1668693"/>
            <a:ext cx="10645140" cy="107721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How do entanglement and coherence manifest in TLS-QHO systems?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DCFAD-2350-F3AF-2E8E-98B2220AA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98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E78B2-C14A-B2C0-271D-41E100DCD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9DC9E-61C3-4977-9AC4-F5848949B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9157" y="3038823"/>
            <a:ext cx="6373685" cy="780353"/>
          </a:xfrm>
        </p:spPr>
        <p:txBody>
          <a:bodyPr>
            <a:normAutofit/>
          </a:bodyPr>
          <a:lstStyle/>
          <a:p>
            <a:pPr algn="l"/>
            <a:r>
              <a:rPr lang="en-GB" sz="4800" b="1" dirty="0">
                <a:latin typeface="Arial Nova Light" panose="020B0304020202020204" pitchFamily="34" charset="0"/>
                <a:cs typeface="Arial" panose="020B0604020202020204" pitchFamily="34" charset="0"/>
              </a:rPr>
              <a:t>Thank you for listening!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8FCE3C-BD9B-1F13-D9A8-AD12726D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4AF9-4157-403D-807F-39247A8D632D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8376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2364</TotalTime>
  <Words>359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Arial Nova Light</vt:lpstr>
      <vt:lpstr>Wingdings</vt:lpstr>
      <vt:lpstr>Office Theme</vt:lpstr>
      <vt:lpstr>Quantum Resources in Two-Level Systems Coupled to Harmonic Oscillators</vt:lpstr>
      <vt:lpstr>Two-Level Systems Coupled to Harmonic Oscillators</vt:lpstr>
      <vt:lpstr>Quantum Resources: Entanglement and Coherence</vt:lpstr>
      <vt:lpstr>The Research Question</vt:lpstr>
      <vt:lpstr>Methodology: Our Models</vt:lpstr>
      <vt:lpstr>Methodology: State Evolution</vt:lpstr>
      <vt:lpstr>Methodology: Initial Conditions</vt:lpstr>
      <vt:lpstr>Methodology: Measures of Entanglement, Coherence</vt:lpstr>
      <vt:lpstr>JCM: Closed Evolution</vt:lpstr>
      <vt:lpstr>JCM: Closed Evolution</vt:lpstr>
      <vt:lpstr>JCM: Open Evolution (Spontaneous Emission Only)</vt:lpstr>
      <vt:lpstr>EVM: Closed Evolution</vt:lpstr>
      <vt:lpstr>EVM: Open Evolution</vt:lpstr>
      <vt:lpstr>Conclusion and Outlook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Adeya, Rowan</dc:creator>
  <cp:lastModifiedBy>Adeya, Rowan</cp:lastModifiedBy>
  <cp:revision>3</cp:revision>
  <dcterms:created xsi:type="dcterms:W3CDTF">2025-09-04T08:37:27Z</dcterms:created>
  <dcterms:modified xsi:type="dcterms:W3CDTF">2025-09-08T12:07:26Z</dcterms:modified>
</cp:coreProperties>
</file>